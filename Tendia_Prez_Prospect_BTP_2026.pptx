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18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2766060"/>
            <a:ext cx="4754880" cy="4754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0" y="3314700"/>
            <a:ext cx="3657600" cy="36576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989320" y="3817620"/>
            <a:ext cx="2651760" cy="2651760"/>
          </a:xfrm>
          <a:prstGeom prst="ellipse">
            <a:avLst/>
          </a:prstGeom>
          <a:solidFill>
            <a:srgbClr val="9C7A3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 ·  PME BTP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Tendia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Gagnez plus de marchés publics.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Passez moins de temps à les chercher.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137160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Younes  ·  Founder Tendia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[Nom entreprise]  ·  [Date]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BTP représente 40 % de la commande publique. Et la majorité passe sous les radars.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76200" dist="12700" dir="5400000" algn="bl" rotWithShape="0">
              <a:srgbClr val="0F1B3D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Md€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marchés publics BTP attribués chaque année en France.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8288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76200" dist="12700" dir="5400000" algn="bl" rotWithShape="0">
              <a:srgbClr val="0F1B3D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42900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80 000+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29000" y="2926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BTP publiés sur BOAMP, JOUE et plateformes acheteurs.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76200" dist="12700" dir="5400000" algn="bl" rotWithShape="0">
              <a:srgbClr val="0F1B3D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21792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– 30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par an seulement traités par une PME BTP de 20-50 salariés.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·  </a:t>
            </a: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entreprise BTP voit passer 1 à 5 % des marchés publics qui pourraient vous concerner. </a:t>
            </a: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95 % restants partent à vos concurrents, ou ne sont attribués à personne d'optimal.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 N D I 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919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QUOTIDIEN D'UN DIRIGEANT BTP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douleurs que vous reconnaissez sûrement.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Filtrer le bruit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BOAMP, JOUE, plateformes acheteurs — chaque jour, des dizaines d'annonces tombent. La plupart ne vous concernent pas. Vous (ou un assistant) passez 30 minutes/jour à lire des intitulés pour rien.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34440" y="2404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caché : 100h par an de temps dirigeant ou commercial.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Lire 80 pages de CCTP pour rien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lancez la lecture du DCE — RC, CCTP, BPU, plans. 2 heures plus tard, vous vous rendez compte qu'il faut une certification que vous n'avez pas. Ou que la visite obligatoire était hier.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34440" y="3456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 majeure. Vous abandonnez avant la fin sur certains AO qui auraient été pour vous.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Naviguer en aveugle sur la concurrence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déjà répondu à des marchés de ce maître d'ouvrage ? À quel prix ? Avec quel taux de réussite ? L'info existe dans le DECP, mais elle est inexploitable en l'état.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34440" y="4507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9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proposez des prix au pifomètre. Vous gagnez ou perdez sans comprendre pourquoi.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 N D I 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919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TENDIA FAIT POUR VOUS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promesses concrètes — démontrées dans la démo qui suit.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76200" dist="12700" dir="5400000" algn="bl" rotWithShape="0">
              <a:srgbClr val="0F1B3D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Tous les marchés BTP filtrés pour vous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048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à 27 plateformes (PLACE, AWS, marches-publics.info, BOAMP, JOUE, eForms). Filtrage IA sur 56 domaines BTP. Seuls les marchés vraiment pertinents apparaissent.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76200" dist="12700" dir="5400000" algn="bl" rotWithShape="0">
              <a:srgbClr val="0F1B3D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46320" y="1874520"/>
            <a:ext cx="457200" cy="45720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Décomposition automatique par lots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4048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marché, Tendia détecte les lots, les sous-lots, et vous dit en un coup d'œil lesquels vous concernent. Plus besoin de scroller 80 pages.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76200" dist="12700" dir="5400000" algn="bl" rotWithShape="0">
              <a:srgbClr val="0F1B3D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des contraintes éliminatoires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9593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obligatoire, certifications requises (Qualibat, RGE, ACMH...), assurance décennale, montants minimums — tout est vérifié automatiquement avant que vous ne lanciez la lecture.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24612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blurRad="76200" dist="12700" dir="5400000" algn="bl" rotWithShape="0">
              <a:srgbClr val="0F1B3D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46320" y="3429000"/>
            <a:ext cx="457200" cy="45720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463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 concurrentielle DECP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9593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marché, voyez qui a déjà gagné des marchés similaires chez ce maître d'ouvrage, à quel prix, avec quelle fréquence. Vous positionnez vos prix sur des faits, pas des intuitions.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 N D I 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919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766560" y="3108960"/>
            <a:ext cx="3840480" cy="384048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Passons à l'écran.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vais vous montrer Tendia en direct, sur un marché public BTP réel.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estimée : 10 à 15 minutes.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voir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entrant  ·  son brief intelligent  ·  ses contraintes  ·  son verdict scoré  ·  l'intel concurrentielle DECP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TENDIA TIENT SUR LA DURÉE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choses qu'aucun concurrent ne fait aujourd'hui.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0F1B3D"/>
          </a:solidFill>
          <a:ln w="190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Accès aux DCE complets sur plateformes verrouillées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(marchés publics du gouvernement), AWS Achats, marches-publics.info — beaucoup de plateformes verrouillent l'accès aux dossiers complets. Tendia franchit ces barrières automatiquement. Vous avez accès aux plans, BPU, devis quantitatifs que les autres outils ne voient pas.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0F1B3D"/>
          </a:solidFill>
          <a:ln w="190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L'intelligence concurrentielle DECP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108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DECP (Données Essentielles de la Commande Publique) recense les attributions historiques de tous les marchés publics français. Tendia le croise automatiquement avec chaque AO en cours. Vous savez qui a gagné quoi, à quel prix, et contre combien de concurrents. C'est l'info qui change vos prix.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0F1B3D"/>
          </a:solidFill>
          <a:ln w="190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Spécialisé BTP, pas généraliste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160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IA généralistes traitent tous les marchés pareil. Tendia a un moteur dédié BTP : il comprend les lots, les certifications, les phases de chantier, les coordinations OPC/SPS, les contraintes patrimoine. Là où les autres voient du texte, on voit du métier.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 N D I 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0" y="4919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prix simple. Une rentabilité évidente.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0F1B3D"/>
          </a:solidFill>
          <a:ln w="19050">
            <a:solidFill>
              <a:srgbClr val="C9A961"/>
            </a:solidFill>
            <a:prstDash val="solid"/>
          </a:ln>
          <a:effectLst>
            <a:outerShdw blurRad="127000" dist="25400" dir="5400000" algn="bl" rotWithShape="0">
              <a:srgbClr val="0F1B3D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651760" y="1920240"/>
            <a:ext cx="1600200" cy="292608"/>
          </a:xfrm>
          <a:prstGeom prst="roundRect">
            <a:avLst>
              <a:gd name="adj" fmla="val 12500"/>
            </a:avLst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651760" y="19202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 GRATUIT 14 JOURS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TENDIA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199 €</a:t>
            </a:r>
            <a:r>
              <a:rPr lang="en-US" sz="13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mois / user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3657600" cy="0"/>
          </a:xfrm>
          <a:prstGeom prst="line">
            <a:avLst/>
          </a:prstGeom>
          <a:noFill/>
          <a:ln w="9525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marchés BTP filtrés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illimités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temps réel + dashboard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engagement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calcul de rentabilité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annuel Tendia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2 388 €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2743200"/>
            <a:ext cx="4023360" cy="0"/>
          </a:xfrm>
          <a:prstGeom prst="line">
            <a:avLst/>
          </a:prstGeom>
          <a:noFill/>
          <a:ln w="6350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marché BTP gagné en moyenne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200 000 €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023360" cy="0"/>
          </a:xfrm>
          <a:prstGeom prst="line">
            <a:avLst/>
          </a:prstGeom>
          <a:noFill/>
          <a:ln w="6350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66344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 typique BTP (8 %)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16 000 €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63440" y="3749040"/>
            <a:ext cx="4023360" cy="0"/>
          </a:xfrm>
          <a:prstGeom prst="line">
            <a:avLst/>
          </a:prstGeom>
          <a:noFill/>
          <a:ln w="6350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6344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sur investissement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6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6,7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636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·  </a:t>
            </a:r>
            <a:r>
              <a:rPr lang="en-US" sz="100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 marché BTP gagné par an grâce à Tendia rembourse 7 ans d'abonnement. Et si vous en gagnez 2 ou 3, le calcul devient absurde.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 N D I 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919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SIMPLE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signature à l'exploitation : 30 jours, encadrés.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7863840" cy="0"/>
          </a:xfrm>
          <a:prstGeom prst="line">
            <a:avLst/>
          </a:prstGeom>
          <a:noFill/>
          <a:ln w="25400">
            <a:solidFill>
              <a:srgbClr val="E5DD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458468" y="2761488"/>
            <a:ext cx="329184" cy="329184"/>
          </a:xfrm>
          <a:prstGeom prst="ellipse">
            <a:avLst/>
          </a:prstGeom>
          <a:solidFill>
            <a:srgbClr val="C9A961"/>
          </a:solidFill>
          <a:ln w="254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créé en 2 minutes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bancaire requise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engagement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4428" y="2761488"/>
            <a:ext cx="329184" cy="329184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60604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 personnalisée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2461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 min avec votre équipe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vos filtres BTP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premières alertes activées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0388" y="2761488"/>
            <a:ext cx="329184" cy="329184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Premiers briefs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2461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marchés analysés avec vous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résultats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Ajustements préférences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56348" y="2761488"/>
            <a:ext cx="329184" cy="329184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53796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30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103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&amp; ajustements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32461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téléphonique 30 min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filtres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E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 on continue 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l'essai 14 jours  ·  </a:t>
            </a:r>
            <a:r>
              <a:rPr lang="en-US" sz="1050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accédez à toute la plateforme. Vous décidez de continuer (ou non) au J14 — sans justification à fournir.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 N D I 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49194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0" y="-685800"/>
            <a:ext cx="2743200" cy="2743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229600" y="-457200"/>
            <a:ext cx="1828800" cy="1828800"/>
          </a:xfrm>
          <a:prstGeom prst="ellipse">
            <a:avLst/>
          </a:prstGeom>
          <a:solidFill>
            <a:srgbClr val="9C7A3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démarre comment 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  <a:effectLst>
            <a:outerShdw blurRad="127000" dist="25400" dir="5400000" algn="bl" rotWithShape="0">
              <a:srgbClr val="0F1B3D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74520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RECOMMANDÉ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Essai gratuit 14 jours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repartez avec vos accès aujourd'hui. Carte bancaire requise (rien n'est débité), résiliation libre au J14.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0574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 w="6350">
            <a:solidFill>
              <a:srgbClr val="C9A961"/>
            </a:solidFill>
            <a:prstDash val="solid"/>
          </a:ln>
          <a:effectLst>
            <a:outerShdw blurRad="127000" dist="25400" dir="5400000" algn="bl" rotWithShape="0">
              <a:srgbClr val="0F1B3D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29000" y="2880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gratuit de vos 5 derniers AO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3520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Donnez-moi 5 AO BTP que vous avez analysés récemment. Je vous montre ce que Tendia en aurait dit, sans engagement.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0574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 w="6350">
            <a:solidFill>
              <a:srgbClr val="C9A961"/>
            </a:solidFill>
            <a:prstDash val="solid"/>
          </a:ln>
          <a:effectLst>
            <a:outerShdw blurRad="127000" dist="25400" dir="5400000" algn="bl" rotWithShape="0">
              <a:srgbClr val="0F1B3D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2179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RDV technique avec votre équipe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3520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approfondie à votre équipe opérationnelle (responsable AO, commercial, dirigeant). Sur site ou en visio.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137160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 À votre disposition.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Microsoft Office PowerPoint</Application>
  <PresentationFormat>Affichage à l'écran (16:9)</PresentationFormat>
  <Paragraphs>137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Tendia — Présentation prospect BTP</dc:title>
  <dc:subject>PptxGenJS Presentation</dc:subject>
  <dc:creator>Younes — Tendia</dc:creator>
  <cp:lastModifiedBy>younes Saimane</cp:lastModifiedBy>
  <cp:revision>1</cp:revision>
  <dcterms:created xsi:type="dcterms:W3CDTF">2026-06-18T18:36:08Z</dcterms:created>
  <dcterms:modified xsi:type="dcterms:W3CDTF">2026-06-18T19:03:24Z</dcterms:modified>
</cp:coreProperties>
</file>